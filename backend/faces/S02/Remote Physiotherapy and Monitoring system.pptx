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69666"/>
            <a:ext cx="4036948" cy="418833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2297"/>
            <a:ext cx="1522348" cy="236550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8948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348" y="-63"/>
            <a:ext cx="1603375" cy="114141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05901" y="6095999"/>
            <a:ext cx="993736" cy="76199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7748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9113" y="324993"/>
            <a:ext cx="7804784" cy="1070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2671" y="1864613"/>
            <a:ext cx="5786120" cy="4719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naming-guitar-90229212.figma.sit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407363"/>
            <a:ext cx="8284209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200" spc="-10" dirty="0">
                <a:solidFill>
                  <a:srgbClr val="EBEBEB"/>
                </a:solidFill>
                <a:latin typeface="Verdana"/>
                <a:cs typeface="Verdana"/>
              </a:rPr>
              <a:t>Remote </a:t>
            </a:r>
            <a:r>
              <a:rPr sz="7200" spc="-185" dirty="0">
                <a:solidFill>
                  <a:srgbClr val="EBEBEB"/>
                </a:solidFill>
                <a:latin typeface="Verdana"/>
                <a:cs typeface="Verdana"/>
              </a:rPr>
              <a:t>Physiotherapy</a:t>
            </a:r>
            <a:r>
              <a:rPr sz="7200" spc="-535" dirty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sz="7200" spc="235" dirty="0">
                <a:solidFill>
                  <a:srgbClr val="EBEBEB"/>
                </a:solidFill>
                <a:latin typeface="Verdana"/>
                <a:cs typeface="Verdana"/>
              </a:rPr>
              <a:t>and </a:t>
            </a:r>
            <a:r>
              <a:rPr sz="7200" spc="-114" dirty="0">
                <a:solidFill>
                  <a:srgbClr val="EBEBEB"/>
                </a:solidFill>
                <a:latin typeface="Verdana"/>
                <a:cs typeface="Verdana"/>
              </a:rPr>
              <a:t>Monitoring</a:t>
            </a:r>
            <a:r>
              <a:rPr sz="7200" spc="-580" dirty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sz="7200" spc="-445" dirty="0">
                <a:solidFill>
                  <a:srgbClr val="EBEBEB"/>
                </a:solidFill>
                <a:latin typeface="Verdana"/>
                <a:cs typeface="Verdana"/>
              </a:rPr>
              <a:t>system</a:t>
            </a:r>
            <a:endParaRPr sz="7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97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415" dirty="0"/>
              <a:t>Project</a:t>
            </a:r>
            <a:r>
              <a:rPr sz="5400" spc="50" dirty="0"/>
              <a:t> </a:t>
            </a:r>
            <a:r>
              <a:rPr sz="5400" spc="395" dirty="0"/>
              <a:t>team</a:t>
            </a:r>
            <a:r>
              <a:rPr sz="5400" spc="50" dirty="0"/>
              <a:t> </a:t>
            </a:r>
            <a:r>
              <a:rPr sz="5400" spc="360" dirty="0"/>
              <a:t>members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396364" y="1995373"/>
            <a:ext cx="431419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indent="-409575">
              <a:lnSpc>
                <a:spcPct val="100000"/>
              </a:lnSpc>
              <a:spcBef>
                <a:spcPts val="100"/>
              </a:spcBef>
              <a:buSzPct val="97222"/>
              <a:buFont typeface="Wingdings"/>
              <a:buChar char=""/>
              <a:tabLst>
                <a:tab pos="421005" algn="l"/>
              </a:tabLst>
            </a:pPr>
            <a:r>
              <a:rPr sz="3600" spc="-110" dirty="0">
                <a:solidFill>
                  <a:srgbClr val="FFFFFF"/>
                </a:solidFill>
                <a:latin typeface="Verdana"/>
                <a:cs typeface="Verdana"/>
              </a:rPr>
              <a:t>Bavyesh</a:t>
            </a:r>
            <a:r>
              <a:rPr sz="36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65" dirty="0">
                <a:solidFill>
                  <a:srgbClr val="FFFFFF"/>
                </a:solidFill>
                <a:latin typeface="Verdana"/>
                <a:cs typeface="Verdana"/>
              </a:rPr>
              <a:t>Mattoo</a:t>
            </a:r>
            <a:endParaRPr sz="3600" dirty="0">
              <a:latin typeface="Verdana"/>
              <a:cs typeface="Verdana"/>
            </a:endParaRPr>
          </a:p>
          <a:p>
            <a:pPr marL="420370" indent="-409575">
              <a:lnSpc>
                <a:spcPct val="100000"/>
              </a:lnSpc>
              <a:spcBef>
                <a:spcPts val="4325"/>
              </a:spcBef>
              <a:buSzPct val="97222"/>
              <a:buFont typeface="Wingdings"/>
              <a:buChar char=""/>
              <a:tabLst>
                <a:tab pos="420370" algn="l"/>
              </a:tabLst>
            </a:pP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Bed</a:t>
            </a:r>
            <a:r>
              <a:rPr sz="36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45" dirty="0">
                <a:solidFill>
                  <a:srgbClr val="FFFFFF"/>
                </a:solidFill>
                <a:latin typeface="Verdana"/>
                <a:cs typeface="Verdana"/>
              </a:rPr>
              <a:t>Prasad</a:t>
            </a:r>
            <a:r>
              <a:rPr sz="36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Verdana"/>
                <a:cs typeface="Verdana"/>
              </a:rPr>
              <a:t>Aryal</a:t>
            </a:r>
            <a:endParaRPr sz="3600" dirty="0">
              <a:latin typeface="Verdana"/>
              <a:cs typeface="Verdana"/>
            </a:endParaRPr>
          </a:p>
          <a:p>
            <a:pPr marL="420370" indent="-409575">
              <a:lnSpc>
                <a:spcPct val="100000"/>
              </a:lnSpc>
              <a:spcBef>
                <a:spcPts val="4320"/>
              </a:spcBef>
              <a:buSzPct val="97222"/>
              <a:buFont typeface="Wingdings"/>
              <a:buChar char=""/>
              <a:tabLst>
                <a:tab pos="420370" algn="l"/>
              </a:tabLst>
            </a:pPr>
            <a:r>
              <a:rPr sz="3600" spc="-140" dirty="0">
                <a:solidFill>
                  <a:srgbClr val="FFFFFF"/>
                </a:solidFill>
                <a:latin typeface="Verdana"/>
                <a:cs typeface="Verdana"/>
              </a:rPr>
              <a:t>Bhagyashri</a:t>
            </a:r>
            <a:r>
              <a:rPr sz="36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47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3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0167" y="393953"/>
            <a:ext cx="55803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96210" algn="l"/>
              </a:tabLst>
            </a:pPr>
            <a:r>
              <a:rPr spc="305" dirty="0"/>
              <a:t>Problem</a:t>
            </a:r>
            <a:r>
              <a:rPr dirty="0"/>
              <a:t>	</a:t>
            </a:r>
            <a:r>
              <a:rPr spc="33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2083" y="1833499"/>
            <a:ext cx="9422765" cy="445827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9435" indent="-54673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559435" algn="l"/>
              </a:tabLst>
            </a:pPr>
            <a:r>
              <a:rPr lang="en-US" sz="3200" spc="-5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3200" spc="-55" dirty="0">
                <a:solidFill>
                  <a:srgbClr val="FFFFFF"/>
                </a:solidFill>
                <a:latin typeface="Verdana"/>
                <a:cs typeface="Verdana"/>
              </a:rPr>
              <a:t>requent</a:t>
            </a:r>
            <a:r>
              <a:rPr sz="32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visit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2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Verdana"/>
                <a:cs typeface="Verdana"/>
              </a:rPr>
              <a:t>hospitals</a:t>
            </a:r>
            <a:r>
              <a:rPr sz="32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Verdana"/>
                <a:cs typeface="Verdana"/>
              </a:rPr>
              <a:t>travelling</a:t>
            </a:r>
            <a:r>
              <a:rPr sz="32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problems</a:t>
            </a:r>
            <a:endParaRPr lang="en-US" sz="3200" spc="-10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559435" indent="-54673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559435" algn="l"/>
              </a:tabLst>
            </a:pPr>
            <a:endParaRPr sz="3200" dirty="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  <a:tab pos="445770" algn="l"/>
              </a:tabLst>
            </a:pPr>
            <a:r>
              <a:rPr sz="3200" spc="70" dirty="0">
                <a:solidFill>
                  <a:srgbClr val="FFFFFF"/>
                </a:solidFill>
                <a:latin typeface="Verdana"/>
                <a:cs typeface="Verdana"/>
              </a:rPr>
              <a:t>	People</a:t>
            </a:r>
            <a:r>
              <a:rPr sz="32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Verdana"/>
                <a:cs typeface="Verdana"/>
              </a:rPr>
              <a:t>remote</a:t>
            </a:r>
            <a:r>
              <a:rPr sz="3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Verdana"/>
                <a:cs typeface="Verdana"/>
              </a:rPr>
              <a:t>areas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who</a:t>
            </a:r>
            <a:r>
              <a:rPr sz="3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3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usually </a:t>
            </a:r>
            <a:r>
              <a:rPr sz="3200" spc="140" dirty="0">
                <a:solidFill>
                  <a:srgbClr val="FFFFFF"/>
                </a:solidFill>
                <a:latin typeface="Verdana"/>
                <a:cs typeface="Verdana"/>
              </a:rPr>
              <a:t>engaged</a:t>
            </a:r>
            <a:r>
              <a:rPr sz="32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6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32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field/farm</a:t>
            </a:r>
            <a:r>
              <a:rPr sz="32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95" dirty="0">
                <a:solidFill>
                  <a:srgbClr val="FFFFFF"/>
                </a:solidFill>
                <a:latin typeface="Verdana"/>
                <a:cs typeface="Verdana"/>
              </a:rPr>
              <a:t>works</a:t>
            </a:r>
            <a:r>
              <a:rPr sz="32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Verdana"/>
                <a:cs typeface="Verdana"/>
              </a:rPr>
              <a:t>cannot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visit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Verdana"/>
                <a:cs typeface="Verdana"/>
              </a:rPr>
              <a:t>when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required</a:t>
            </a:r>
            <a:endParaRPr sz="3200" dirty="0">
              <a:latin typeface="Verdana"/>
              <a:cs typeface="Verdana"/>
            </a:endParaRPr>
          </a:p>
          <a:p>
            <a:pPr marL="299085" marR="772795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  <a:tab pos="446405" algn="l"/>
              </a:tabLst>
            </a:pPr>
            <a:r>
              <a:rPr sz="3200" spc="-145" dirty="0">
                <a:solidFill>
                  <a:srgbClr val="FFFFFF"/>
                </a:solidFill>
                <a:latin typeface="Verdana"/>
                <a:cs typeface="Verdana"/>
              </a:rPr>
              <a:t>	Sometimes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Verdana"/>
                <a:cs typeface="Verdana"/>
              </a:rPr>
              <a:t>after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going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2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hospital</a:t>
            </a:r>
            <a:r>
              <a:rPr sz="3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doctors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mayor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may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7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available</a:t>
            </a:r>
            <a:endParaRPr sz="3200" dirty="0">
              <a:latin typeface="Verdana"/>
              <a:cs typeface="Verdana"/>
            </a:endParaRPr>
          </a:p>
          <a:p>
            <a:pPr marL="299085" marR="1917700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  <a:tab pos="446405" algn="l"/>
              </a:tabLst>
            </a:pP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	Standing</a:t>
            </a:r>
            <a:r>
              <a:rPr sz="32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7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2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2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long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Verdana"/>
                <a:cs typeface="Verdana"/>
              </a:rPr>
              <a:t>queue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32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40" dirty="0">
                <a:solidFill>
                  <a:srgbClr val="FFFFFF"/>
                </a:solidFill>
                <a:latin typeface="Verdana"/>
                <a:cs typeface="Verdana"/>
              </a:rPr>
              <a:t>doctor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appointment</a:t>
            </a:r>
            <a:endParaRPr sz="3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538" rIns="0" bIns="0" rtlCol="0">
            <a:spAutoFit/>
          </a:bodyPr>
          <a:lstStyle/>
          <a:p>
            <a:pPr marL="2647950">
              <a:lnSpc>
                <a:spcPct val="100000"/>
              </a:lnSpc>
              <a:spcBef>
                <a:spcPts val="105"/>
              </a:spcBef>
            </a:pPr>
            <a:r>
              <a:rPr spc="285" dirty="0"/>
              <a:t>Objective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dirty="0"/>
              <a:t>Reduces</a:t>
            </a:r>
            <a:r>
              <a:rPr spc="-170" dirty="0"/>
              <a:t> </a:t>
            </a:r>
            <a:r>
              <a:rPr spc="-90" dirty="0"/>
              <a:t>travelling</a:t>
            </a:r>
            <a:r>
              <a:rPr spc="-165" dirty="0"/>
              <a:t> </a:t>
            </a:r>
            <a:r>
              <a:rPr spc="-20" dirty="0"/>
              <a:t>cost</a:t>
            </a:r>
          </a:p>
          <a:p>
            <a:pPr marL="297815" marR="169545" indent="-285750">
              <a:lnSpc>
                <a:spcPct val="100000"/>
              </a:lnSpc>
              <a:spcBef>
                <a:spcPts val="3360"/>
              </a:spcBef>
              <a:buSzPct val="96428"/>
              <a:buFont typeface="Wingdings"/>
              <a:buChar char=""/>
              <a:tabLst>
                <a:tab pos="299085" algn="l"/>
              </a:tabLst>
            </a:pPr>
            <a:r>
              <a:rPr spc="60" dirty="0"/>
              <a:t>People</a:t>
            </a:r>
            <a:r>
              <a:rPr spc="-160" dirty="0"/>
              <a:t> </a:t>
            </a:r>
            <a:r>
              <a:rPr spc="-125" dirty="0"/>
              <a:t>from</a:t>
            </a:r>
            <a:r>
              <a:rPr spc="-185" dirty="0"/>
              <a:t> </a:t>
            </a:r>
            <a:r>
              <a:rPr spc="-40" dirty="0"/>
              <a:t>remote</a:t>
            </a:r>
            <a:r>
              <a:rPr spc="-195" dirty="0"/>
              <a:t> </a:t>
            </a:r>
            <a:r>
              <a:rPr spc="-50" dirty="0"/>
              <a:t>areas</a:t>
            </a:r>
            <a:r>
              <a:rPr spc="-175" dirty="0"/>
              <a:t> </a:t>
            </a:r>
            <a:r>
              <a:rPr spc="135" dirty="0"/>
              <a:t>can 	</a:t>
            </a:r>
            <a:r>
              <a:rPr spc="-120" dirty="0"/>
              <a:t>easily</a:t>
            </a:r>
            <a:r>
              <a:rPr spc="-170" dirty="0"/>
              <a:t> </a:t>
            </a:r>
            <a:r>
              <a:rPr spc="85" dirty="0"/>
              <a:t>contact</a:t>
            </a:r>
            <a:r>
              <a:rPr spc="-120" dirty="0"/>
              <a:t> </a:t>
            </a:r>
            <a:r>
              <a:rPr spc="-10" dirty="0"/>
              <a:t>doctors</a:t>
            </a:r>
          </a:p>
          <a:p>
            <a:pPr marL="297815" marR="473075" indent="-285750">
              <a:lnSpc>
                <a:spcPct val="100000"/>
              </a:lnSpc>
              <a:spcBef>
                <a:spcPts val="3360"/>
              </a:spcBef>
              <a:buSzPct val="96428"/>
              <a:buFont typeface="Wingdings"/>
              <a:buChar char=""/>
              <a:tabLst>
                <a:tab pos="299085" algn="l"/>
              </a:tabLst>
            </a:pPr>
            <a:r>
              <a:rPr spc="-90" dirty="0"/>
              <a:t>Patients</a:t>
            </a:r>
            <a:r>
              <a:rPr spc="-165" dirty="0"/>
              <a:t> </a:t>
            </a:r>
            <a:r>
              <a:rPr spc="160" dirty="0"/>
              <a:t>can</a:t>
            </a:r>
            <a:r>
              <a:rPr spc="-175" dirty="0"/>
              <a:t> </a:t>
            </a:r>
            <a:r>
              <a:rPr spc="-90" dirty="0"/>
              <a:t>excess</a:t>
            </a:r>
            <a:r>
              <a:rPr spc="-150" dirty="0"/>
              <a:t> </a:t>
            </a:r>
            <a:r>
              <a:rPr spc="-25" dirty="0"/>
              <a:t>the 	</a:t>
            </a:r>
            <a:r>
              <a:rPr spc="-10" dirty="0"/>
              <a:t>consultated</a:t>
            </a:r>
            <a:r>
              <a:rPr spc="-65" dirty="0"/>
              <a:t> </a:t>
            </a:r>
            <a:r>
              <a:rPr dirty="0"/>
              <a:t>doctor</a:t>
            </a:r>
            <a:r>
              <a:rPr spc="-110" dirty="0"/>
              <a:t> </a:t>
            </a:r>
            <a:r>
              <a:rPr spc="-10" dirty="0"/>
              <a:t>schedule</a:t>
            </a:r>
          </a:p>
          <a:p>
            <a:pPr marL="297815" marR="5080" indent="-285750">
              <a:lnSpc>
                <a:spcPct val="100000"/>
              </a:lnSpc>
              <a:spcBef>
                <a:spcPts val="3365"/>
              </a:spcBef>
              <a:buSzPct val="96428"/>
              <a:buFont typeface="Wingdings"/>
              <a:buChar char=""/>
              <a:tabLst>
                <a:tab pos="299085" algn="l"/>
              </a:tabLst>
            </a:pPr>
            <a:r>
              <a:rPr spc="-75" dirty="0"/>
              <a:t>Doctors</a:t>
            </a:r>
            <a:r>
              <a:rPr spc="-105" dirty="0"/>
              <a:t> </a:t>
            </a:r>
            <a:r>
              <a:rPr spc="160" dirty="0"/>
              <a:t>can</a:t>
            </a:r>
            <a:r>
              <a:rPr spc="-105" dirty="0"/>
              <a:t> </a:t>
            </a:r>
            <a:r>
              <a:rPr spc="-110" dirty="0"/>
              <a:t>easily</a:t>
            </a:r>
            <a:r>
              <a:rPr spc="-105" dirty="0"/>
              <a:t> </a:t>
            </a:r>
            <a:r>
              <a:rPr dirty="0"/>
              <a:t>access</a:t>
            </a:r>
            <a:r>
              <a:rPr spc="-100" dirty="0"/>
              <a:t> </a:t>
            </a:r>
            <a:r>
              <a:rPr spc="-25" dirty="0"/>
              <a:t>the 	</a:t>
            </a:r>
            <a:r>
              <a:rPr spc="-135" dirty="0"/>
              <a:t>progress</a:t>
            </a:r>
            <a:r>
              <a:rPr spc="-185" dirty="0"/>
              <a:t> </a:t>
            </a:r>
            <a:r>
              <a:rPr spc="-80" dirty="0"/>
              <a:t>report</a:t>
            </a:r>
            <a:r>
              <a:rPr spc="-185" dirty="0"/>
              <a:t> </a:t>
            </a:r>
            <a:r>
              <a:rPr dirty="0"/>
              <a:t>of</a:t>
            </a:r>
            <a:r>
              <a:rPr spc="-200" dirty="0"/>
              <a:t> </a:t>
            </a:r>
            <a:r>
              <a:rPr spc="-20" dirty="0"/>
              <a:t>the</a:t>
            </a:r>
            <a:r>
              <a:rPr spc="-180" dirty="0"/>
              <a:t> </a:t>
            </a:r>
            <a:r>
              <a:rPr spc="-10" dirty="0"/>
              <a:t>patient</a:t>
            </a:r>
            <a:r>
              <a:rPr spc="-180" dirty="0"/>
              <a:t> </a:t>
            </a:r>
            <a:r>
              <a:rPr spc="-25" dirty="0"/>
              <a:t>of 	</a:t>
            </a:r>
            <a:r>
              <a:rPr spc="-130" dirty="0"/>
              <a:t>post-</a:t>
            </a:r>
            <a:r>
              <a:rPr spc="-40" dirty="0"/>
              <a:t>surgery</a:t>
            </a:r>
            <a:r>
              <a:rPr sz="1800" spc="-40" dirty="0"/>
              <a:t>.</a:t>
            </a:r>
            <a:endParaRPr sz="1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4969" y="2251595"/>
            <a:ext cx="4896484" cy="38935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003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spc="335" dirty="0"/>
              <a:t>Project</a:t>
            </a:r>
            <a:r>
              <a:rPr spc="35" dirty="0"/>
              <a:t> </a:t>
            </a:r>
            <a:r>
              <a:rPr spc="315" dirty="0"/>
              <a:t>progress</a:t>
            </a:r>
            <a:r>
              <a:rPr spc="55" dirty="0"/>
              <a:t> </a:t>
            </a:r>
            <a:r>
              <a:rPr spc="395" dirty="0"/>
              <a:t>report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4313" y="1813382"/>
            <a:ext cx="631317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8450" algn="l"/>
              </a:tabLst>
            </a:pPr>
            <a:r>
              <a:rPr sz="3200" spc="-150" dirty="0">
                <a:solidFill>
                  <a:srgbClr val="FFFFFF"/>
                </a:solidFill>
                <a:latin typeface="Verdana"/>
                <a:cs typeface="Verdana"/>
              </a:rPr>
              <a:t>Track</a:t>
            </a:r>
            <a:r>
              <a:rPr sz="3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weekly</a:t>
            </a:r>
            <a:r>
              <a:rPr sz="32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exercise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Verdana"/>
                <a:cs typeface="Verdana"/>
              </a:rPr>
              <a:t>progress</a:t>
            </a:r>
            <a:endParaRPr sz="3200">
              <a:latin typeface="Verdana"/>
              <a:cs typeface="Verdana"/>
            </a:endParaRPr>
          </a:p>
          <a:p>
            <a:pPr marL="463550" marR="1035050" indent="-451484">
              <a:lnSpc>
                <a:spcPct val="100000"/>
              </a:lnSpc>
              <a:buChar char="•"/>
              <a:tabLst>
                <a:tab pos="463550" algn="l"/>
                <a:tab pos="483234" algn="l"/>
              </a:tabLst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200" spc="-55" dirty="0">
                <a:solidFill>
                  <a:srgbClr val="FFFFFF"/>
                </a:solidFill>
                <a:latin typeface="Verdana"/>
                <a:cs typeface="Verdana"/>
              </a:rPr>
              <a:t>Monitor</a:t>
            </a:r>
            <a:r>
              <a:rPr sz="32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Verdana"/>
                <a:cs typeface="Verdana"/>
              </a:rPr>
              <a:t>overall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recovery timeline</a:t>
            </a:r>
            <a:endParaRPr sz="3200">
              <a:latin typeface="Verdana"/>
              <a:cs typeface="Verdana"/>
            </a:endParaRPr>
          </a:p>
          <a:p>
            <a:pPr marL="369570" marR="1883410" indent="-357505">
              <a:lnSpc>
                <a:spcPct val="100000"/>
              </a:lnSpc>
              <a:buChar char="•"/>
              <a:tabLst>
                <a:tab pos="576580" algn="l"/>
              </a:tabLst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Log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14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2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pain</a:t>
            </a:r>
            <a:r>
              <a:rPr sz="32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Verdana"/>
                <a:cs typeface="Verdana"/>
              </a:rPr>
              <a:t>review 	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levels</a:t>
            </a:r>
            <a:endParaRPr sz="3200">
              <a:latin typeface="Verdana"/>
              <a:cs typeface="Verdana"/>
            </a:endParaRPr>
          </a:p>
          <a:p>
            <a:pPr marL="463550" marR="543560" indent="-451484">
              <a:lnSpc>
                <a:spcPct val="100000"/>
              </a:lnSpc>
              <a:spcBef>
                <a:spcPts val="5"/>
              </a:spcBef>
              <a:buChar char="•"/>
              <a:tabLst>
                <a:tab pos="463550" algn="l"/>
                <a:tab pos="483234" algn="l"/>
                <a:tab pos="4624705" algn="l"/>
              </a:tabLst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200" spc="-180" dirty="0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sz="32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Verdana"/>
                <a:cs typeface="Verdana"/>
              </a:rPr>
              <a:t>"calendar"</a:t>
            </a:r>
            <a:r>
              <a:rPr sz="32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track </a:t>
            </a:r>
            <a:r>
              <a:rPr sz="3200" spc="-45" dirty="0">
                <a:solidFill>
                  <a:srgbClr val="FFFFFF"/>
                </a:solidFill>
                <a:latin typeface="Verdana"/>
                <a:cs typeface="Verdana"/>
              </a:rPr>
              <a:t>appointments</a:t>
            </a:r>
            <a:r>
              <a:rPr sz="320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8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2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exercise </a:t>
            </a:r>
            <a:r>
              <a:rPr sz="3200" spc="-50" dirty="0">
                <a:solidFill>
                  <a:srgbClr val="FFFFFF"/>
                </a:solidFill>
                <a:latin typeface="Verdana"/>
                <a:cs typeface="Verdana"/>
              </a:rPr>
              <a:t>schedules</a:t>
            </a:r>
            <a:r>
              <a:rPr sz="32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114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2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remainders</a:t>
            </a:r>
            <a:endParaRPr sz="3200">
              <a:latin typeface="Verdana"/>
              <a:cs typeface="Verdana"/>
            </a:endParaRPr>
          </a:p>
          <a:p>
            <a:pPr marL="369570" marR="946150" indent="-357505">
              <a:lnSpc>
                <a:spcPct val="100000"/>
              </a:lnSpc>
              <a:buChar char="•"/>
              <a:tabLst>
                <a:tab pos="463550" algn="l"/>
              </a:tabLst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Communicate</a:t>
            </a:r>
            <a:r>
              <a:rPr sz="32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25" dirty="0">
                <a:solidFill>
                  <a:srgbClr val="FFFFFF"/>
                </a:solidFill>
                <a:latin typeface="Verdana"/>
                <a:cs typeface="Verdana"/>
              </a:rPr>
              <a:t>easily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with 	</a:t>
            </a:r>
            <a:r>
              <a:rPr sz="3200" spc="-135" dirty="0">
                <a:solidFill>
                  <a:srgbClr val="FFFFFF"/>
                </a:solidFill>
                <a:latin typeface="Verdana"/>
                <a:cs typeface="Verdana"/>
              </a:rPr>
              <a:t>your</a:t>
            </a:r>
            <a:r>
              <a:rPr sz="32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Verdana"/>
                <a:cs typeface="Verdana"/>
              </a:rPr>
              <a:t>therapist</a:t>
            </a:r>
            <a:endParaRPr sz="3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8213" y="1251280"/>
            <a:ext cx="3441319" cy="52576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8590">
              <a:lnSpc>
                <a:spcPct val="100000"/>
              </a:lnSpc>
              <a:spcBef>
                <a:spcPts val="100"/>
              </a:spcBef>
            </a:pPr>
            <a:r>
              <a:rPr spc="280" dirty="0"/>
              <a:t>conclusions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770" y="2015617"/>
            <a:ext cx="1819020" cy="14133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9770" y="2015617"/>
            <a:ext cx="1819275" cy="997709"/>
          </a:xfrm>
          <a:prstGeom prst="rect">
            <a:avLst/>
          </a:prstGeom>
          <a:ln w="9525">
            <a:solidFill>
              <a:srgbClr val="EA6212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Guidelines</a:t>
            </a:r>
            <a:endParaRPr sz="1800" dirty="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</a:pPr>
            <a:r>
              <a:rPr lang="en-IN" sz="1800" spc="-10" dirty="0">
                <a:latin typeface="Verdana"/>
                <a:cs typeface="Verdana"/>
              </a:rPr>
              <a:t>E</a:t>
            </a:r>
            <a:r>
              <a:rPr sz="1800" spc="-10" dirty="0" err="1">
                <a:latin typeface="Verdana"/>
                <a:cs typeface="Verdana"/>
              </a:rPr>
              <a:t>sta</a:t>
            </a:r>
            <a:r>
              <a:rPr lang="en-US" sz="1800" spc="-10" dirty="0" err="1">
                <a:latin typeface="Verdana"/>
                <a:cs typeface="Verdana"/>
              </a:rPr>
              <a:t>b</a:t>
            </a:r>
            <a:r>
              <a:rPr sz="1800" spc="-10" dirty="0" err="1">
                <a:latin typeface="Verdana"/>
                <a:cs typeface="Verdana"/>
              </a:rPr>
              <a:t>lishment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9846" y="2015617"/>
            <a:ext cx="1986152" cy="14133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09846" y="2015617"/>
            <a:ext cx="1986280" cy="1413510"/>
          </a:xfrm>
          <a:prstGeom prst="rect">
            <a:avLst/>
          </a:prstGeom>
          <a:ln w="9525">
            <a:solidFill>
              <a:srgbClr val="EA6212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800">
              <a:latin typeface="Times New Roman"/>
              <a:cs typeface="Times New Roman"/>
            </a:endParaRPr>
          </a:p>
          <a:p>
            <a:pPr marL="201930" marR="186690" indent="-9525" algn="just">
              <a:lnSpc>
                <a:spcPct val="100000"/>
              </a:lnSpc>
            </a:pPr>
            <a:r>
              <a:rPr sz="1800" spc="-95" dirty="0">
                <a:latin typeface="Verdana"/>
                <a:cs typeface="Verdana"/>
              </a:rPr>
              <a:t>Setting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70" dirty="0">
                <a:latin typeface="Verdana"/>
                <a:cs typeface="Verdana"/>
              </a:rPr>
              <a:t>time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to </a:t>
            </a:r>
            <a:r>
              <a:rPr sz="1800" spc="-10" dirty="0">
                <a:latin typeface="Verdana"/>
                <a:cs typeface="Verdana"/>
              </a:rPr>
              <a:t>communicate </a:t>
            </a:r>
            <a:r>
              <a:rPr sz="1800" spc="-85" dirty="0">
                <a:latin typeface="Verdana"/>
                <a:cs typeface="Verdana"/>
              </a:rPr>
              <a:t>with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doctors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51166" y="2015617"/>
            <a:ext cx="2153285" cy="14133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51166" y="2015617"/>
            <a:ext cx="2153285" cy="1413510"/>
          </a:xfrm>
          <a:prstGeom prst="rect">
            <a:avLst/>
          </a:prstGeom>
          <a:ln w="9525">
            <a:solidFill>
              <a:srgbClr val="AF1512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0"/>
              </a:spcBef>
            </a:pPr>
            <a:endParaRPr sz="18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Tablet</a:t>
            </a:r>
            <a:endParaRPr sz="1800">
              <a:latin typeface="Verdana"/>
              <a:cs typeface="Verdana"/>
            </a:endParaRPr>
          </a:p>
          <a:p>
            <a:pPr marL="3175"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prescription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30195" y="4581829"/>
            <a:ext cx="2113914" cy="14133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330195" y="4581829"/>
            <a:ext cx="2113915" cy="1413510"/>
          </a:xfrm>
          <a:prstGeom prst="rect">
            <a:avLst/>
          </a:prstGeom>
          <a:ln w="9525">
            <a:solidFill>
              <a:srgbClr val="AF1512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endParaRPr sz="1800">
              <a:latin typeface="Times New Roman"/>
              <a:cs typeface="Times New Roman"/>
            </a:endParaRPr>
          </a:p>
          <a:p>
            <a:pPr marL="330835" marR="321945" indent="-635"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Remote </a:t>
            </a:r>
            <a:r>
              <a:rPr sz="1800" spc="-20" dirty="0">
                <a:latin typeface="Verdana"/>
                <a:cs typeface="Verdana"/>
              </a:rPr>
              <a:t>physiological </a:t>
            </a:r>
            <a:r>
              <a:rPr sz="1800" spc="-10" dirty="0">
                <a:latin typeface="Verdana"/>
                <a:cs typeface="Verdana"/>
              </a:rPr>
              <a:t>monitoring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1829" y="4581829"/>
            <a:ext cx="2113914" cy="141338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751829" y="4581829"/>
            <a:ext cx="2113915" cy="1413510"/>
          </a:xfrm>
          <a:prstGeom prst="rect">
            <a:avLst/>
          </a:prstGeom>
          <a:ln w="9525">
            <a:solidFill>
              <a:srgbClr val="AF1512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5"/>
              </a:spcBef>
            </a:pP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spc="-30" dirty="0">
                <a:latin typeface="Verdana"/>
                <a:cs typeface="Verdana"/>
              </a:rPr>
              <a:t>Patient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04451" y="4660442"/>
            <a:ext cx="2045080" cy="133477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704451" y="4660442"/>
            <a:ext cx="2045335" cy="1334770"/>
          </a:xfrm>
          <a:prstGeom prst="rect">
            <a:avLst/>
          </a:prstGeom>
          <a:ln w="9525">
            <a:solidFill>
              <a:srgbClr val="AF1512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94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95" dirty="0">
                <a:latin typeface="Verdana"/>
                <a:cs typeface="Verdana"/>
              </a:rPr>
              <a:t>Instruction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40" dirty="0"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advise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095" rIns="0" bIns="0" rtlCol="0">
            <a:spAutoFit/>
          </a:bodyPr>
          <a:lstStyle/>
          <a:p>
            <a:pPr marL="1988820">
              <a:lnSpc>
                <a:spcPct val="100000"/>
              </a:lnSpc>
              <a:spcBef>
                <a:spcPts val="105"/>
              </a:spcBef>
            </a:pPr>
            <a:r>
              <a:rPr spc="240" dirty="0"/>
              <a:t>Website</a:t>
            </a:r>
            <a:r>
              <a:rPr spc="15" dirty="0"/>
              <a:t> </a:t>
            </a:r>
            <a:r>
              <a:rPr spc="430" dirty="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8400" y="3233420"/>
            <a:ext cx="626935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  <a:hlinkClick r:id="rId2"/>
              </a:rPr>
              <a:t>https://naming-guitar-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  <a:hlinkClick r:id="rId2"/>
              </a:rPr>
              <a:t>90229212.figma.site</a:t>
            </a:r>
            <a:endParaRPr lang="en-US" sz="2400" spc="-130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2036445"/>
            <a:ext cx="283527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600" spc="660" dirty="0">
                <a:solidFill>
                  <a:srgbClr val="EBEBEB"/>
                </a:solidFill>
              </a:rPr>
              <a:t>Thank </a:t>
            </a:r>
            <a:r>
              <a:rPr sz="6600" spc="505" dirty="0">
                <a:solidFill>
                  <a:srgbClr val="EBEBEB"/>
                </a:solidFill>
              </a:rPr>
              <a:t>you</a:t>
            </a:r>
            <a:endParaRPr sz="6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4613" y="619391"/>
            <a:ext cx="4941062" cy="59485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172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 MT</vt:lpstr>
      <vt:lpstr>Georgia</vt:lpstr>
      <vt:lpstr>Times New Roman</vt:lpstr>
      <vt:lpstr>Verdana</vt:lpstr>
      <vt:lpstr>Wingdings</vt:lpstr>
      <vt:lpstr>Office Theme</vt:lpstr>
      <vt:lpstr>Remote Physiotherapy and Monitoring system</vt:lpstr>
      <vt:lpstr>Project team members</vt:lpstr>
      <vt:lpstr>Problem statement</vt:lpstr>
      <vt:lpstr>Objective</vt:lpstr>
      <vt:lpstr>Project progress report</vt:lpstr>
      <vt:lpstr>conclusions</vt:lpstr>
      <vt:lpstr>Website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snehash336@gmail.com</dc:creator>
  <cp:lastModifiedBy>JASKARMAN RANA</cp:lastModifiedBy>
  <cp:revision>1</cp:revision>
  <dcterms:created xsi:type="dcterms:W3CDTF">2025-12-04T05:37:48Z</dcterms:created>
  <dcterms:modified xsi:type="dcterms:W3CDTF">2025-12-04T05:57:42Z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2025-12-04T00:00:00Z</vt:filetime>
  </property>
  <property fmtid="{D5CDD505-2E9C-101B-9397-08002B2CF9AE}" pid="5" name="Producer">
    <vt:lpwstr>Microsoft® PowerPoint® 2024</vt:lpwstr>
  </property>
</Properties>
</file>